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表紙" id="{e574a3d4-92ce-a1c8-518c-beb110acfa71}">
          <p14:sldIdLst>
            <p14:sldId id="256"/>
          </p14:sldIdLst>
        </p14:section>
        <p14:section name="要旨" id="{90126e93-91f3-376d-ad1f-e617dc714377}">
          <p14:sldIdLst>
            <p14:sldId id="257"/>
          </p14:sldIdLst>
        </p14:section>
        <p14:section name="研究方法" id="{f314ccee-43fc-334e-0e7b-3a0db090002f}">
          <p14:sldIdLst>
            <p14:sldId id="258"/>
          </p14:sldIdLst>
        </p14:section>
        <p14:section name="研究結果" id="{73ff0c37-a554-31b1-1b0b-6ad4e80ca23e}">
          <p14:sldIdLst>
            <p14:sldId id="259"/>
            <p14:sldId id="260"/>
            <p14:sldId id="261"/>
            <p14:sldId id="262"/>
          </p14:sldIdLst>
        </p14:section>
        <p14:section name="施策概要" id="{905ffcfc-a5d7-0c87-a6d5-ab3e0bffaffa}">
          <p14:sldIdLst>
            <p14:sldId id="263"/>
            <p14:sldId id="264"/>
            <p14:sldId id="265"/>
          </p14:sldIdLst>
        </p14:section>
        <p14:section name="施策内容" id="{1181b816-a2ea-1f3d-b0e8-6b84ca2a252b}">
          <p14:sldIdLst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施策普及策" id="{32cfe270-ddb8-b9b5-690f-780d62663440}">
          <p14:sldIdLst>
            <p14:sldId id="272"/>
            <p14:sldId id="273"/>
            <p14:sldId id="274"/>
          </p14:sldIdLst>
        </p14:section>
        <p14:section name="おわりに" id="{20381462-62aa-f71b-07cc-f5e161ccb002}">
          <p14:sldIdLst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E4C59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3E4C59"/>
                </a:solidFill>
                <a:latin typeface="+mn-lt"/>
              </a:rPr>
              <a:t>「感じる」と回答した割合（全国1万人アンケート 設問②）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活用層</c:v>
                </c:pt>
              </c:strCache>
            </c:strRef>
          </c:tx>
          <c:spPr>
            <a:solidFill>
              <a:srgbClr val="087E8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E4C5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ハードルが高い</c:v>
                  </c:pt>
                  <c:pt idx="1">
                    <c:v>必要性を感じない</c:v>
                  </c:pt>
                  <c:pt idx="2">
                    <c:v>リスクへの不安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33.4</c:v>
                </c:pt>
                <c:pt idx="1">
                  <c:v>9.6</c:v>
                </c:pt>
                <c:pt idx="2">
                  <c:v>72.6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低頻度層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E4C5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ハードルが高い</c:v>
                  </c:pt>
                  <c:pt idx="1">
                    <c:v>必要性を感じない</c:v>
                  </c:pt>
                  <c:pt idx="2">
                    <c:v>リスクへの不安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50.2</c:v>
                </c:pt>
                <c:pt idx="1">
                  <c:v>33</c:v>
                </c:pt>
                <c:pt idx="2">
                  <c:v>66.6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未経験層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E4C5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ハードルが高い</c:v>
                  </c:pt>
                  <c:pt idx="1">
                    <c:v>必要性を感じない</c:v>
                  </c:pt>
                  <c:pt idx="2">
                    <c:v>リスクへの不安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52.2</c:v>
                </c:pt>
                <c:pt idx="1">
                  <c:v>66.2</c:v>
                </c:pt>
                <c:pt idx="2">
                  <c:v>55.8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3E4C5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E4C5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5"/>
        </c:scaling>
        <c:delete val="1"/>
        <c:axPos val="l"/>
        <c:majorGridlines>
          <c:spPr>
            <a:ln w="6350" cap="flat">
              <a:solidFill>
                <a:srgbClr val="E1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E4C59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3E4C59"/>
                </a:solidFill>
                <a:latin typeface="+mn-lt"/>
              </a:rPr>
              <a:t>新しいことを始めるきっかけ（N=51・複数回答）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割合</c:v>
                </c:pt>
              </c:strCache>
            </c:strRef>
          </c:tx>
          <c:spPr>
            <a:solidFill>
              <a:srgbClr val="087E8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E4C5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87E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87E8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9C3C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2A54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9C3C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興味・好奇心</c:v>
                  </c:pt>
                  <c:pt idx="1">
                    <c:v>成長・スキルアップ</c:v>
                  </c:pt>
                  <c:pt idx="2">
                    <c:v>外的要因・必要性</c:v>
                  </c:pt>
                  <c:pt idx="3">
                    <c:v>報酬・評価</c:v>
                  </c:pt>
                  <c:pt idx="4">
                    <c:v>効率化・負担軽減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43.1</c:v>
                </c:pt>
                <c:pt idx="1">
                  <c:v>39.2</c:v>
                </c:pt>
                <c:pt idx="2">
                  <c:v>23.5</c:v>
                </c:pt>
                <c:pt idx="3">
                  <c:v>21.6</c:v>
                </c:pt>
                <c:pt idx="4">
                  <c:v>15.7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3E4C5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E4C5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2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研究レポート「AIランド開拓記」の発表資料です。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A96"/>
                </a:solidFill>
              </a:rPr>
              <a:t>AIランド開拓記 ｜ 第22回神奈川産学チャレンジプログラム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A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B39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BFE3E8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A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9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news/e42d9bb0-fd75-5b9c-bb0a-5542b79e04e4/scratchpad/img/cov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42976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4572000"/>
            <a:ext cx="106984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生成AI活用率80%へ ― 二極化を解消する5つの施策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5303520"/>
            <a:ext cx="106984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FE3E8"/>
                </a:solidFill>
              </a:rPr>
              <a:t>第22回神奈川産学チャレンジプログラム　研究レポート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要旨：3つの壁を、5つの施策と1つのシステムで取り除く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調査で見えた3つの壁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874520"/>
            <a:ext cx="594360" cy="5943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874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828800"/>
            <a:ext cx="25603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できないAI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</a:rPr>
              <a:t>使い方が分からない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2926080"/>
            <a:ext cx="594360" cy="59436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2926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880360"/>
            <a:ext cx="25603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いらないAI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</a:rPr>
              <a:t>必要性を感じない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34747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3977640"/>
            <a:ext cx="594360" cy="594360"/>
          </a:xfrm>
          <a:prstGeom prst="ellipse">
            <a:avLst/>
          </a:prstGeom>
          <a:solidFill>
            <a:srgbClr val="7A6CC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3977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931920"/>
            <a:ext cx="25603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信用ならないAI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</a:rPr>
              <a:t>リスクへの不安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206240" y="2743200"/>
            <a:ext cx="548640" cy="54864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937760" y="1280160"/>
            <a:ext cx="3108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定着の3条件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37760" y="1737360"/>
            <a:ext cx="31089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074920" y="1737360"/>
            <a:ext cx="28346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「やらされている」と感じさせない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937760" y="2788920"/>
            <a:ext cx="31089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074920" y="2788920"/>
            <a:ext cx="28346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使い始めるきっかけを用意する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37760" y="3840480"/>
            <a:ext cx="31089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074920" y="3840480"/>
            <a:ext cx="28346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実際の業務に繋がっている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229600" y="2743200"/>
            <a:ext cx="548640" cy="54864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5" name="Shape 23"/>
          <p:cNvSpPr/>
          <p:nvPr/>
        </p:nvSpPr>
        <p:spPr>
          <a:xfrm>
            <a:off x="8961120" y="1280160"/>
            <a:ext cx="2651760" cy="352044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144000" y="1463040"/>
            <a:ext cx="22860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FE3E8"/>
                </a:solidFill>
              </a:rPr>
              <a:t>提案</a:t>
            </a:r>
            <a:endParaRPr lang="en-US" sz="14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AIランド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BFE3E8"/>
                </a:solidFill>
              </a:rPr>
              <a:t>（アイランド）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5つの施策を束ねた社内ポータルシステム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chemeClr val="tx2"/>
                </a:solidFill>
              </a:rPr>
              <a:t>知見が流れる循環をつくり、「二極化」という言葉そのものを社内から消す。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A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研究方法：4つの調査で非活用の理由を紐解く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06040" cy="42062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087E8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21945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全国1万人アンケート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34640"/>
            <a:ext cx="21945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3,347名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57600"/>
            <a:ext cx="219456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E4C59"/>
                </a:solidFill>
              </a:rPr>
              <a:t>貴社に近い職種・年齢（22〜69歳）に絞り込み、活用頻度と意識を分析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83280" y="1371600"/>
            <a:ext cx="2606040" cy="42062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0" name="Shape 8"/>
          <p:cNvSpPr/>
          <p:nvPr/>
        </p:nvSpPr>
        <p:spPr>
          <a:xfrm>
            <a:off x="3611880" y="1600200"/>
            <a:ext cx="548640" cy="548640"/>
          </a:xfrm>
          <a:prstGeom prst="ellipse">
            <a:avLst/>
          </a:prstGeom>
          <a:solidFill>
            <a:srgbClr val="087E8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1188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2331720"/>
            <a:ext cx="21945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貴社内アンケート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2834640"/>
            <a:ext cx="21945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51名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3657600"/>
            <a:ext cx="219456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E4C59"/>
                </a:solidFill>
              </a:rPr>
              <a:t>生成AIを使わない理由・業務の悩み・新しいことを始める動機を調査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1371600"/>
            <a:ext cx="2606040" cy="42062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6" name="Shape 14"/>
          <p:cNvSpPr/>
          <p:nvPr/>
        </p:nvSpPr>
        <p:spPr>
          <a:xfrm>
            <a:off x="6446520" y="1600200"/>
            <a:ext cx="548640" cy="548640"/>
          </a:xfrm>
          <a:prstGeom prst="ellipse">
            <a:avLst/>
          </a:prstGeom>
          <a:solidFill>
            <a:srgbClr val="087E8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4652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2331720"/>
            <a:ext cx="21945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文献調査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2834640"/>
            <a:ext cx="21945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3件</a:t>
            </a:r>
            <a:endParaRPr lang="en-US" sz="32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3657600"/>
            <a:ext cx="219456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E4C59"/>
                </a:solidFill>
              </a:rPr>
              <a:t>若年層・中高年層・シニア層それぞれが仕事で抱える悩みを調査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052560" y="1371600"/>
            <a:ext cx="2606040" cy="42062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22" name="Shape 20"/>
          <p:cNvSpPr/>
          <p:nvPr/>
        </p:nvSpPr>
        <p:spPr>
          <a:xfrm>
            <a:off x="9281160" y="1600200"/>
            <a:ext cx="548640" cy="548640"/>
          </a:xfrm>
          <a:prstGeom prst="ellipse">
            <a:avLst/>
          </a:prstGeom>
          <a:solidFill>
            <a:srgbClr val="087E8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28116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9281160" y="2331720"/>
            <a:ext cx="21945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インタビュー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281160" y="2834640"/>
            <a:ext cx="21945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指導教授ほか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9281160" y="3657600"/>
            <a:ext cx="219456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E4C59"/>
                </a:solidFill>
              </a:rPr>
              <a:t>身近な社会人に、より詳細な意見を聴取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A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活用者51.2%・非活用者48.8% ― 社内と同じ二極化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331720" cy="310896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1965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活用層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65960"/>
            <a:ext cx="19659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87E8B"/>
                </a:solidFill>
              </a:rPr>
              <a:t>51.2%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880360"/>
            <a:ext cx="19659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</a:rPr>
              <a:t>1,714人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46120"/>
            <a:ext cx="19659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いずれか1つ以上の用途を「週に数回」以上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063240" y="1371600"/>
            <a:ext cx="2331720" cy="310896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246120" y="1554480"/>
            <a:ext cx="1965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低頻度層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1965960"/>
            <a:ext cx="19659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2A541"/>
                </a:solidFill>
              </a:rPr>
              <a:t>27.4%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3246120" y="2880360"/>
            <a:ext cx="19659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</a:rPr>
              <a:t>917人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246120" y="3246120"/>
            <a:ext cx="19659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使用経験はあるが「週に数回」に届かない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577840" y="1371600"/>
            <a:ext cx="2331720" cy="310896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760720" y="1554480"/>
            <a:ext cx="1965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未経験層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760720" y="1965960"/>
            <a:ext cx="19659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4572E"/>
                </a:solidFill>
              </a:rPr>
              <a:t>21.4%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5760720" y="2880360"/>
            <a:ext cx="19659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</a:rPr>
              <a:t>716人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760720" y="3246120"/>
            <a:ext cx="19659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8用途すべて「使ったことがない」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063240" y="4617720"/>
            <a:ext cx="48463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非活用者 48.8%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120640"/>
            <a:ext cx="73152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</a:rPr>
              <a:t>※活用基準は貴社の「月15日以上」に準拠。n=3,347（全国1万人アンケートより抽出）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分析対象の年代区分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0" y="1828800"/>
          <a:ext cx="32004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188720"/>
                <a:gridCol w="1005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層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年齢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人数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若年層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22〜32歳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778名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中高年層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33〜49歳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1,369名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シニア層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50〜69歳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1,200名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A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生成AIを使わない理由は「3つの壁」に整理できる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67665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589520" y="137160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5" name="Shape 2"/>
          <p:cNvSpPr/>
          <p:nvPr/>
        </p:nvSpPr>
        <p:spPr>
          <a:xfrm>
            <a:off x="7726680" y="1554480"/>
            <a:ext cx="502920" cy="50292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266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366760" y="1508760"/>
            <a:ext cx="3108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できないAI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366760" y="1874520"/>
            <a:ext cx="315468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非活用者の半数超がハードルを感じる。活用層との差は約20pt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→ ハードルを低く感じさせる施策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589520" y="297180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7726680" y="315468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72668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366760" y="3108960"/>
            <a:ext cx="3108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いらないAI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366760" y="3474720"/>
            <a:ext cx="315468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活用層と未経験層の差は約57pt。最も活用を左右する壁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→ 各世代の悩みを生成AIで解決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589520" y="4572000"/>
            <a:ext cx="402336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5" name="Shape 12"/>
          <p:cNvSpPr/>
          <p:nvPr/>
        </p:nvSpPr>
        <p:spPr>
          <a:xfrm>
            <a:off x="7726680" y="4754880"/>
            <a:ext cx="502920" cy="502920"/>
          </a:xfrm>
          <a:prstGeom prst="ellipse">
            <a:avLst/>
          </a:prstGeom>
          <a:solidFill>
            <a:srgbClr val="7A6CC4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72668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366760" y="4709160"/>
            <a:ext cx="3108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信用ならないAI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366760" y="5074920"/>
            <a:ext cx="315468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使うほど不安が高まる。全層で5割超の共通課題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→ リスクへの不安を少しでも軽減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A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社内アンケート：業務への落とし込み方が分からない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8521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業務での悩み（生成AIで解決可能なもの）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58521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11480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業務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悩み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資料作成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ゼロからの構成検討やExcel作業に膨大な時間がかかる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メール返信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相手の立場に応じた言い回しや推敲に気を遣う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プログラミング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設計書がない他人のコード解読やバグ調査に時間を取られる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後輩・部下の指導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成果物の品質が低く、結局自分で巻き取って手直ししている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349240"/>
            <a:ext cx="58521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非活用の理由は「操作が難しい」ではなく「業務に直結して使えない」「必要性を感じない」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766560" y="1280160"/>
          <a:ext cx="48463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766560" y="5532120"/>
            <a:ext cx="48463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内発的動機（興味・成長）に応え、報酬・評価で後押しする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A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文献調査：世代ごとに異なる仕事の悩み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4663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00200"/>
            <a:ext cx="1371600" cy="411480"/>
          </a:xfrm>
          <a:prstGeom prst="roundRect">
            <a:avLst>
              <a:gd name="adj" fmla="val 44444"/>
            </a:avLst>
          </a:prstGeom>
          <a:solidFill>
            <a:srgbClr val="C9488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若年層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48840"/>
            <a:ext cx="31089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C9488F"/>
                </a:solidFill>
              </a:rPr>
              <a:t>65%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08960"/>
            <a:ext cx="31089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「仕事についていけるか」が最大の不安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114800"/>
            <a:ext cx="31089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</a:rPr>
              <a:t>施策の方向性</a:t>
            </a:r>
            <a:endParaRPr lang="en-US" sz="14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自分の成長・スキルアップにフォーカス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5440680"/>
            <a:ext cx="3108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</a:rPr>
              <a:t>出典：新入社員の意識調査（リクルートMS）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0" y="1371600"/>
            <a:ext cx="3520440" cy="4663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11" name="Shape 9"/>
          <p:cNvSpPr/>
          <p:nvPr/>
        </p:nvSpPr>
        <p:spPr>
          <a:xfrm>
            <a:off x="4526280" y="1600200"/>
            <a:ext cx="1371600" cy="411480"/>
          </a:xfrm>
          <a:prstGeom prst="roundRect">
            <a:avLst>
              <a:gd name="adj" fmla="val 44444"/>
            </a:avLst>
          </a:prstGeom>
          <a:solidFill>
            <a:srgbClr val="F2A54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26280" y="16002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中高年層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148840"/>
            <a:ext cx="31089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2A541"/>
                </a:solidFill>
              </a:rPr>
              <a:t>34%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3108960"/>
            <a:ext cx="31089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出世のため「自己分析」「上司からのフィードバック」を重視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4114800"/>
            <a:ext cx="31089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</a:rPr>
              <a:t>施策の方向性</a:t>
            </a:r>
            <a:endParaRPr lang="en-US" sz="14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業務のフィードバックと予行演習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5440680"/>
            <a:ext cx="3108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</a:rPr>
              <a:t>出典：出世意欲の調査（あしたのチーム）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46720" y="1371600"/>
            <a:ext cx="3520440" cy="4663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18" name="Shape 16"/>
          <p:cNvSpPr/>
          <p:nvPr/>
        </p:nvSpPr>
        <p:spPr>
          <a:xfrm>
            <a:off x="8275320" y="1600200"/>
            <a:ext cx="1371600" cy="411480"/>
          </a:xfrm>
          <a:prstGeom prst="roundRect">
            <a:avLst>
              <a:gd name="adj" fmla="val 44444"/>
            </a:avLst>
          </a:prstGeom>
          <a:solidFill>
            <a:srgbClr val="7A6CC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75320" y="16002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シニア層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2148840"/>
            <a:ext cx="31089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7A6CC4"/>
                </a:solidFill>
              </a:rPr>
              <a:t>55.2%</a:t>
            </a:r>
            <a:endParaRPr lang="en-US" sz="44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3108960"/>
            <a:ext cx="31089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管理職の悩みは「部下の育成」がトップ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4114800"/>
            <a:ext cx="31089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</a:rPr>
              <a:t>施策の方向性</a:t>
            </a:r>
            <a:endParaRPr lang="en-US" sz="14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自分の代わりに添削してくれる仕組み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75320" y="5440680"/>
            <a:ext cx="3108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</a:rPr>
              <a:t>出典：管理職意識調査（ALL DIFFERENT）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A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AIランド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BFE3E8"/>
                </a:solidFill>
              </a:rPr>
              <a:t>5つの施策を1つのシステムに束ね、社内のAIランドを開拓する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コンセプト：島を訪れ、アバターと共に成長する</a:t>
            </a:r>
            <a:endParaRPr lang="en-US" sz="2800" dirty="0"/>
          </a:p>
        </p:txBody>
      </p:sp>
      <p:pic>
        <p:nvPicPr>
          <p:cNvPr id="3" name="Image 0" descr="/tmp/claude-0/-home-user-news/e42d9bb0-fd75-5b9c-bb0a-5542b79e04e4/scratchpad/img/l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400800" cy="32278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0" y="1280160"/>
            <a:ext cx="42976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システム化の狙い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7315200" y="1691640"/>
            <a:ext cx="429768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バラバラの単体ツールでは「結局どれを使えばいいのか分からない」という新たな壁を生む。5施策を1つのポータルにまとめ、悩みに応じて自然に回遊できる仕組みにする。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315200" y="3520440"/>
            <a:ext cx="42976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コンセプト「AIランドの開拓」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0" y="3931920"/>
            <a:ext cx="429768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生成AIを難しい業務ツールとして押し付けず、島々を切り拓き、自分のアバターと共に成長していく体験として捉えてもらう。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846320"/>
            <a:ext cx="64008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</a:rPr>
              <a:t>基盤：AWS（RDS・Lambda・Bedrock・Cognito）で5施策を1つの基盤で運用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A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AIランドを構成する5つの施策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106424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426464"/>
            <a:ext cx="548640" cy="548640"/>
          </a:xfrm>
          <a:prstGeom prst="ellipse">
            <a:avLst/>
          </a:prstGeom>
          <a:solidFill>
            <a:srgbClr val="087E8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4264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280160"/>
            <a:ext cx="2194560" cy="8412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おまもり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749040" y="1499616"/>
            <a:ext cx="1737360" cy="402336"/>
          </a:xfrm>
          <a:prstGeom prst="roundRect">
            <a:avLst>
              <a:gd name="adj" fmla="val 45455"/>
            </a:avLst>
          </a:prstGeom>
          <a:solidFill>
            <a:srgbClr val="7A6CC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749040" y="149961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信用ならないAI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669280" y="1280160"/>
            <a:ext cx="1097280" cy="8412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2606D"/>
                </a:solidFill>
              </a:rPr>
              <a:t>全世代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0" y="1280160"/>
            <a:ext cx="4572000" cy="8412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生成AI利用時の4つの心得を頭文字にまとめた社内共通ルール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267712"/>
            <a:ext cx="1106424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414016"/>
            <a:ext cx="548640" cy="548640"/>
          </a:xfrm>
          <a:prstGeom prst="ellipse">
            <a:avLst/>
          </a:prstGeom>
          <a:solidFill>
            <a:srgbClr val="087E8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24140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2267712"/>
            <a:ext cx="2194560" cy="8412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AIレシピ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749040" y="2487168"/>
            <a:ext cx="1737360" cy="402336"/>
          </a:xfrm>
          <a:prstGeom prst="roundRect">
            <a:avLst>
              <a:gd name="adj" fmla="val 45455"/>
            </a:avLst>
          </a:prstGeom>
          <a:solidFill>
            <a:srgbClr val="E457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749040" y="248716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できないAI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0" y="2267712"/>
            <a:ext cx="1097280" cy="8412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2606D"/>
                </a:solidFill>
              </a:rPr>
              <a:t>全世代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2267712"/>
            <a:ext cx="4572000" cy="8412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社員がおすすめプロンプトを投稿し合い、良質なものが可視化される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255264"/>
            <a:ext cx="1106424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3401568"/>
            <a:ext cx="548640" cy="548640"/>
          </a:xfrm>
          <a:prstGeom prst="ellipse">
            <a:avLst/>
          </a:prstGeom>
          <a:solidFill>
            <a:srgbClr val="087E8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34015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3255264"/>
            <a:ext cx="2194560" cy="8412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そだてAI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749040" y="3474720"/>
            <a:ext cx="1737360" cy="402336"/>
          </a:xfrm>
          <a:prstGeom prst="roundRect">
            <a:avLst>
              <a:gd name="adj" fmla="val 45455"/>
            </a:avLst>
          </a:prstGeom>
          <a:solidFill>
            <a:srgbClr val="F2A54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749040" y="347472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いらないAI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0" y="3255264"/>
            <a:ext cx="1097280" cy="8412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2606D"/>
                </a:solidFill>
              </a:rPr>
              <a:t>若年層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0" y="3255264"/>
            <a:ext cx="4572000" cy="8412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日報にAIがフィードバックを返し、キャラクターと共に成長を実感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4242816"/>
            <a:ext cx="1106424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</p:spPr>
      </p:sp>
      <p:sp>
        <p:nvSpPr>
          <p:cNvPr id="28" name="Shape 26"/>
          <p:cNvSpPr/>
          <p:nvPr/>
        </p:nvSpPr>
        <p:spPr>
          <a:xfrm>
            <a:off x="731520" y="4389120"/>
            <a:ext cx="548640" cy="548640"/>
          </a:xfrm>
          <a:prstGeom prst="ellipse">
            <a:avLst/>
          </a:prstGeom>
          <a:solidFill>
            <a:srgbClr val="087E8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3152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1463040" y="4242816"/>
            <a:ext cx="2194560" cy="8412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天下取り会議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3749040" y="4462272"/>
            <a:ext cx="1737360" cy="402336"/>
          </a:xfrm>
          <a:prstGeom prst="roundRect">
            <a:avLst>
              <a:gd name="adj" fmla="val 45455"/>
            </a:avLst>
          </a:prstGeom>
          <a:solidFill>
            <a:srgbClr val="F2A54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749040" y="446227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いらないAI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669280" y="4242816"/>
            <a:ext cx="1097280" cy="8412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2606D"/>
                </a:solidFill>
              </a:rPr>
              <a:t>中高年層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0" y="4242816"/>
            <a:ext cx="4572000" cy="8412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4人の戦国武将AIが異なる観点から提案資料を審査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48640" y="5230368"/>
            <a:ext cx="1106424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</p:spPr>
      </p:sp>
      <p:sp>
        <p:nvSpPr>
          <p:cNvPr id="36" name="Shape 34"/>
          <p:cNvSpPr/>
          <p:nvPr/>
        </p:nvSpPr>
        <p:spPr>
          <a:xfrm>
            <a:off x="731520" y="5376672"/>
            <a:ext cx="548640" cy="548640"/>
          </a:xfrm>
          <a:prstGeom prst="ellipse">
            <a:avLst/>
          </a:prstGeom>
          <a:solidFill>
            <a:srgbClr val="087E8B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31520" y="5376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1463040" y="5230368"/>
            <a:ext cx="2194560" cy="8412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影武者AI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3749040" y="5449824"/>
            <a:ext cx="1737360" cy="402336"/>
          </a:xfrm>
          <a:prstGeom prst="roundRect">
            <a:avLst>
              <a:gd name="adj" fmla="val 45455"/>
            </a:avLst>
          </a:prstGeom>
          <a:solidFill>
            <a:srgbClr val="F2A541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3749040" y="544982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いらないAI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5669280" y="5230368"/>
            <a:ext cx="1097280" cy="8412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2606D"/>
                </a:solidFill>
              </a:rPr>
              <a:t>シニア層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6858000" y="5230368"/>
            <a:ext cx="4572000" cy="8412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部下の資料を本人らしい言葉で一次添削する、もう一人の自分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A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5つの施策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BFE3E8"/>
                </a:solidFill>
              </a:rPr>
              <a:t>3つの壁と各世代の悩みに寄り添う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施策①「おまもり」― 信用ならないAI・全世代共通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85800" cy="685800"/>
          </a:xfrm>
          <a:prstGeom prst="ellipse">
            <a:avLst/>
          </a:prstGeom>
          <a:solidFill>
            <a:srgbClr val="7A6C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お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325880"/>
            <a:ext cx="50292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おおやけにできる情報だけ入力する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685800" cy="685800"/>
          </a:xfrm>
          <a:prstGeom prst="ellipse">
            <a:avLst/>
          </a:prstGeom>
          <a:solidFill>
            <a:srgbClr val="7A6C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194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ま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194560"/>
            <a:ext cx="50292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まかせすぎない（最終判断は人がする）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685800" cy="685800"/>
          </a:xfrm>
          <a:prstGeom prst="ellipse">
            <a:avLst/>
          </a:prstGeom>
          <a:solidFill>
            <a:srgbClr val="7A6CC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063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も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063240"/>
            <a:ext cx="50292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もう一度確認する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685800" cy="685800"/>
          </a:xfrm>
          <a:prstGeom prst="ellipse">
            <a:avLst/>
          </a:prstGeom>
          <a:solidFill>
            <a:srgbClr val="7A6CC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931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り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931920"/>
            <a:ext cx="50292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りかいしてから使う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892040"/>
            <a:ext cx="5943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なぜ「あいうえお作文」なのか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257800"/>
            <a:ext cx="60350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長く堅いガイドラインは使い始める前の壁になる。防災標語「おかしも」と同じ発想で、デジタル庁ガイドラインの要点を4文字に圧縮した。</a:t>
            </a:r>
            <a:endParaRPr lang="en-US" sz="1300" dirty="0"/>
          </a:p>
        </p:txBody>
      </p:sp>
      <p:pic>
        <p:nvPicPr>
          <p:cNvPr id="17" name="Image 0" descr="/tmp/claude-0/-home-user-news/e42d9bb0-fd75-5b9c-bb0a-5542b79e04e4/scratchpad/img/po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1325880"/>
            <a:ext cx="4572000" cy="334670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7040880" y="4846320"/>
            <a:ext cx="45720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</a:rPr>
              <a:t>社内掲示とシステムのロード画面で、繰り返し目に触れる形で定着させる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A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施策②「AIレシピ」― できないAI・全世代共通</a:t>
            </a:r>
            <a:endParaRPr lang="en-US" sz="2800" dirty="0"/>
          </a:p>
        </p:txBody>
      </p:sp>
      <p:pic>
        <p:nvPicPr>
          <p:cNvPr id="3" name="Image 0" descr="/tmp/claude-0/-home-user-news/e42d9bb0-fd75-5b9c-bb0a-5542b79e04e4/scratchpad/img/reci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669280" cy="38496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257800"/>
            <a:ext cx="56692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社員がおすすめプロンプトを投稿し、いいねが一定数を超えると「殿堂入り」。料理レシピアプリの構造で、抽象的なプロンプトを直感的に探せるようにした。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6583680" y="1280160"/>
            <a:ext cx="5029200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今月のランキング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良いと評価されたプロンプトが一目で分かる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583680" y="2029968"/>
            <a:ext cx="5029200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はじめの一皿セット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「何から始めれば」に最初の一歩を示す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583680" y="2779776"/>
            <a:ext cx="5029200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シェフからのひとこと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作成のコツも学べ、自分で書く力を養う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0" y="3529584"/>
            <a:ext cx="5029200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食材で探す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職種・業務タグで用途別に検索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583680" y="4279392"/>
            <a:ext cx="5029200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匿名質問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「分からない」を周囲の目を気にせず解消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583680" y="5120640"/>
            <a:ext cx="502920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720840" y="5166360"/>
            <a:ext cx="48006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表彰制度：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世代別の今月のMVP賞・殿堂入り賞・失敗談を共有する「助けたで賞」で、「失敗しながら使うのが当たり前」の空気をつくる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A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施策③「そだてAI」― いらないAI・若年層向け</a:t>
            </a:r>
            <a:endParaRPr lang="en-US" sz="2800" dirty="0"/>
          </a:p>
        </p:txBody>
      </p:sp>
      <p:pic>
        <p:nvPicPr>
          <p:cNvPr id="3" name="Image 0" descr="/tmp/claude-0/-home-user-news/e42d9bb0-fd75-5b9c-bb0a-5542b79e04e4/scratchpad/img/sod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11064240" cy="363016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029200"/>
            <a:ext cx="58521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日報にAIがフィードバック（成長ポイント／頑張ったこと／もう少し頑張ると良いこと／明日からやること）を毎日返し、累計投稿日数でキャラクターが進化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583680" y="5257800"/>
            <a:ext cx="896112" cy="548640"/>
          </a:xfrm>
          <a:prstGeom prst="roundRect">
            <a:avLst>
              <a:gd name="adj" fmla="val 16667"/>
            </a:avLst>
          </a:prstGeom>
          <a:solidFill>
            <a:srgbClr val="F6D3E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583680" y="5257800"/>
            <a:ext cx="896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たまご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589520" y="5257800"/>
            <a:ext cx="896112" cy="548640"/>
          </a:xfrm>
          <a:prstGeom prst="roundRect">
            <a:avLst>
              <a:gd name="adj" fmla="val 16667"/>
            </a:avLst>
          </a:prstGeom>
          <a:solidFill>
            <a:srgbClr val="F6D3E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589520" y="5257800"/>
            <a:ext cx="896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ピヨちゃん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8595360" y="5257800"/>
            <a:ext cx="896112" cy="548640"/>
          </a:xfrm>
          <a:prstGeom prst="roundRect">
            <a:avLst>
              <a:gd name="adj" fmla="val 16667"/>
            </a:avLst>
          </a:prstGeom>
          <a:solidFill>
            <a:srgbClr val="F6D3E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595360" y="5257800"/>
            <a:ext cx="896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ガキちょん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9601200" y="5257800"/>
            <a:ext cx="896112" cy="548640"/>
          </a:xfrm>
          <a:prstGeom prst="roundRect">
            <a:avLst>
              <a:gd name="adj" fmla="val 16667"/>
            </a:avLst>
          </a:prstGeom>
          <a:solidFill>
            <a:srgbClr val="F6D3E5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601200" y="5257800"/>
            <a:ext cx="896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ハリキリ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0607040" y="5257800"/>
            <a:ext cx="896112" cy="548640"/>
          </a:xfrm>
          <a:prstGeom prst="roundRect">
            <a:avLst>
              <a:gd name="adj" fmla="val 16667"/>
            </a:avLst>
          </a:prstGeom>
          <a:solidFill>
            <a:srgbClr val="C9488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0607040" y="5257800"/>
            <a:ext cx="896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パフェクティン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583680" y="49377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</a:rPr>
              <a:t>5段階の進化段階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A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施策④「天下取り会議」― いらないAI・中高年層向け</a:t>
            </a:r>
            <a:endParaRPr lang="en-US" sz="2800" dirty="0"/>
          </a:p>
        </p:txBody>
      </p:sp>
      <p:pic>
        <p:nvPicPr>
          <p:cNvPr id="3" name="Image 0" descr="/tmp/claude-0/-home-user-news/e42d9bb0-fd75-5b9c-bb0a-5542b79e04e4/scratchpad/img/genera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669280" cy="36393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583680" y="1280160"/>
            <a:ext cx="50292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実績を上げたい中高年層のため、4人の戦国武将AIが重複しない観点から提案資料を審査する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583680" y="2331720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5836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Why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269480" y="2331720"/>
            <a:ext cx="42976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上杉謙信　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大義：なぜやるのか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583680" y="3017520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58368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How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269480" y="3017520"/>
            <a:ext cx="42976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織田信長　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実現性：数字・スケジュール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583680" y="3703320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58368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If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269480" y="3703320"/>
            <a:ext cx="42976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徳川家康　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リスク：失敗時の代替策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583680" y="4389120"/>
            <a:ext cx="548640" cy="5486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58368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Whom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269480" y="4389120"/>
            <a:ext cx="42976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豊臣秀吉　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巻き込み：人がついてくるか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583680" y="5166360"/>
            <a:ext cx="50292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本番の会議の前に、模擬問答で提案の弱点を洗い出す。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120640"/>
            <a:ext cx="56692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606D"/>
                </a:solidFill>
              </a:rPr>
              <a:t>Why → How → If → Whom の順で登場し、抜け漏れを体系的にチェック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A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施策⑤「影武者AI」― いらないAI・シニア層向け</a:t>
            </a:r>
            <a:endParaRPr lang="en-US" sz="2800" dirty="0"/>
          </a:p>
        </p:txBody>
      </p:sp>
      <p:pic>
        <p:nvPicPr>
          <p:cNvPr id="3" name="Image 0" descr="/tmp/claude-0/-home-user-news/e42d9bb0-fd75-5b9c-bb0a-5542b79e04e4/scratchpad/img/k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400800" cy="2057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520440"/>
            <a:ext cx="64008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部下の資料を、上司本人の添削傾向を反映して一次添削する。AI独自の基準ではなく「もう一人の自分」が育っていく。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7315200" y="1280160"/>
            <a:ext cx="42976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6" name="Shape 3"/>
          <p:cNvSpPr/>
          <p:nvPr/>
        </p:nvSpPr>
        <p:spPr>
          <a:xfrm>
            <a:off x="7452360" y="1463040"/>
            <a:ext cx="502920" cy="502920"/>
          </a:xfrm>
          <a:prstGeom prst="ellipse">
            <a:avLst/>
          </a:prstGeom>
          <a:solidFill>
            <a:srgbClr val="7A6CC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45236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1417320"/>
            <a:ext cx="33832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導入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1783080"/>
            <a:ext cx="338328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最初の15分で「口癖ベスト3」を可視化。データがなくても一定精度で使える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15200" y="2880360"/>
            <a:ext cx="42976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7452360" y="3063240"/>
            <a:ext cx="502920" cy="502920"/>
          </a:xfrm>
          <a:prstGeom prst="ellipse">
            <a:avLst/>
          </a:prstGeom>
          <a:solidFill>
            <a:srgbClr val="7A6CC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45236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092440" y="3017520"/>
            <a:ext cx="33832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通常運用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092440" y="3383280"/>
            <a:ext cx="338328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影武者AIが下書き → 本人が確認・加筆 → 指摘を新たな口癖として蓄積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315200" y="4480560"/>
            <a:ext cx="42976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16" name="Shape 13"/>
          <p:cNvSpPr/>
          <p:nvPr/>
        </p:nvSpPr>
        <p:spPr>
          <a:xfrm>
            <a:off x="7452360" y="4663440"/>
            <a:ext cx="502920" cy="502920"/>
          </a:xfrm>
          <a:prstGeom prst="ellipse">
            <a:avLst/>
          </a:prstGeom>
          <a:solidFill>
            <a:srgbClr val="7A6CC4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45236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092440" y="4617720"/>
            <a:ext cx="33832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継続学習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8092440" y="4983480"/>
            <a:ext cx="338328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使うほど本人らしくなる。知識や経験を後世に残す「継承」の意味も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A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施策普及策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BFE3E8"/>
                </a:solidFill>
              </a:rPr>
              <a:t>使い始め、使い続けてもらうための仕組み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経験値とコンテンツ内通貨「ルビー」で継続を後押し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経験値（XP）によるランク制度：7段階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417320" cy="640080"/>
          </a:xfrm>
          <a:prstGeom prst="roundRect">
            <a:avLst>
              <a:gd name="adj" fmla="val 14286"/>
            </a:avLst>
          </a:prstGeom>
          <a:solidFill>
            <a:srgbClr val="087E8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AI見習い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148840" y="1783080"/>
            <a:ext cx="1417320" cy="640080"/>
          </a:xfrm>
          <a:prstGeom prst="roundRect">
            <a:avLst>
              <a:gd name="adj" fmla="val 14286"/>
            </a:avLst>
          </a:prstGeom>
          <a:solidFill>
            <a:srgbClr val="087E8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148840" y="17830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AI冒険者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749040" y="1783080"/>
            <a:ext cx="1417320" cy="640080"/>
          </a:xfrm>
          <a:prstGeom prst="roundRect">
            <a:avLst>
              <a:gd name="adj" fmla="val 14286"/>
            </a:avLst>
          </a:prstGeom>
          <a:solidFill>
            <a:srgbClr val="087E8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749040" y="17830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AI探求者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49240" y="1783080"/>
            <a:ext cx="1417320" cy="640080"/>
          </a:xfrm>
          <a:prstGeom prst="roundRect">
            <a:avLst>
              <a:gd name="adj" fmla="val 14286"/>
            </a:avLst>
          </a:prstGeom>
          <a:solidFill>
            <a:srgbClr val="087E8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349240" y="17830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AI熟練者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49440" y="1783080"/>
            <a:ext cx="1417320" cy="640080"/>
          </a:xfrm>
          <a:prstGeom prst="roundRect">
            <a:avLst>
              <a:gd name="adj" fmla="val 14286"/>
            </a:avLst>
          </a:prstGeom>
          <a:solidFill>
            <a:srgbClr val="087E8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949440" y="17830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AI達人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549640" y="1783080"/>
            <a:ext cx="1417320" cy="640080"/>
          </a:xfrm>
          <a:prstGeom prst="roundRect">
            <a:avLst>
              <a:gd name="adj" fmla="val 14286"/>
            </a:avLst>
          </a:prstGeom>
          <a:solidFill>
            <a:srgbClr val="087E8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549640" y="17830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AI賢者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149840" y="1783080"/>
            <a:ext cx="1417320" cy="640080"/>
          </a:xfrm>
          <a:prstGeom prst="roundRect">
            <a:avLst>
              <a:gd name="adj" fmla="val 14286"/>
            </a:avLst>
          </a:prstGeom>
          <a:solidFill>
            <a:srgbClr val="087E8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149840" y="17830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AIマスター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2560320"/>
            <a:ext cx="110642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2606D"/>
                </a:solidFill>
              </a:rPr>
              <a:t>半年に1回、全社員一律で1段階ダウン → 満足して利用を止めず、継続する動機に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08960"/>
          <a:ext cx="74980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05840"/>
                <a:gridCol w="914400"/>
                <a:gridCol w="3200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施策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経験値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ルビー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獲得条件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AIレシピ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10XP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1投稿につき1回（1日3投稿まで）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AIレシピ MVP・表彰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100XP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MVP・表彰に選出された場合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そだてAI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10XP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日報へのAIフィードバック（1日1回まで）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そだてAI キャラクター進化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20XP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キャラクターが進化した場合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天下取り会議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30XP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1つの資料につき1回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影武者AI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30XP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1つの資料につき1回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8412480" y="3108960"/>
            <a:ext cx="3200400" cy="269748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595360" y="3246120"/>
            <a:ext cx="283464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ルビーの使い道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福利厚生や無料クーポンなどのインセンティブと交換。交換しても経験値・ランクは減らない。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A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告知方法：「知る → 触る → 身に付く」へ段階的に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697480" cy="640080"/>
          </a:xfrm>
          <a:prstGeom prst="chevron">
            <a:avLst/>
          </a:prstGeom>
          <a:solidFill>
            <a:srgbClr val="087E8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258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リリース前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606040" cy="30175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331720"/>
            <a:ext cx="2240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招待状演出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834640"/>
            <a:ext cx="224028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「AIランドより」と差出人名の付いた冒険への招待状を各デスクへ。ティザーポスター「COMING SOON」で期待感を醸成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1325880"/>
            <a:ext cx="2697480" cy="640080"/>
          </a:xfrm>
          <a:prstGeom prst="chevron">
            <a:avLst/>
          </a:prstGeom>
          <a:solidFill>
            <a:srgbClr val="087E8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57600" y="13258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初日〜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83280" y="2194560"/>
            <a:ext cx="2606040" cy="30175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66160" y="2331720"/>
            <a:ext cx="2240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朝礼・会議でのお披露目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834640"/>
            <a:ext cx="224028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朝礼や定例会議の数分間で、実際の業務素材を使ったお題で順番に体験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325880"/>
            <a:ext cx="2697480" cy="640080"/>
          </a:xfrm>
          <a:prstGeom prst="chevron">
            <a:avLst/>
          </a:prstGeom>
          <a:solidFill>
            <a:srgbClr val="F2A54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92240" y="13258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〜1か月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2194560"/>
            <a:ext cx="2606040" cy="30175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0" y="2331720"/>
            <a:ext cx="2240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社内掲示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2834640"/>
            <a:ext cx="224028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給湯室・エレベーター前などに掲示。世界観 → 施策別の悩み訴求 → 人気プロンプト集と3段階で切り替え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052560" y="1325880"/>
            <a:ext cx="2697480" cy="640080"/>
          </a:xfrm>
          <a:prstGeom prst="chevron">
            <a:avLst/>
          </a:prstGeom>
          <a:solidFill>
            <a:srgbClr val="E4572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326880" y="13258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1か月後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052560" y="2194560"/>
            <a:ext cx="2606040" cy="30175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35440" y="2331720"/>
            <a:ext cx="2240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人気投票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235440" y="2834640"/>
            <a:ext cx="224028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4人の武将などを対象に投票。施策を1回利用すると投票チケット1枚で、再点火を図る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440680"/>
            <a:ext cx="3566160" cy="54864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54406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知る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97680" y="5440680"/>
            <a:ext cx="2743200" cy="54864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297680" y="5440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触る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223760" y="5440680"/>
            <a:ext cx="4389120" cy="54864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223760" y="54406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身に付く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A9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39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おわりに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3383280" cy="2560320"/>
          </a:xfrm>
          <a:prstGeom prst="roundRect">
            <a:avLst>
              <a:gd name="adj" fmla="val 4286"/>
            </a:avLst>
          </a:prstGeom>
          <a:solidFill>
            <a:srgbClr val="16507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60120" y="2011680"/>
            <a:ext cx="29260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2A541"/>
                </a:solidFill>
              </a:rPr>
              <a:t>3つの壁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2651760"/>
            <a:ext cx="292608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非活用者が抱える壁を「できないAI」「いらないAI」「信用ならないAI」に整理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43400" y="1828800"/>
            <a:ext cx="3383280" cy="2560320"/>
          </a:xfrm>
          <a:prstGeom prst="roundRect">
            <a:avLst>
              <a:gd name="adj" fmla="val 4286"/>
            </a:avLst>
          </a:prstGeom>
          <a:solidFill>
            <a:srgbClr val="1650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0" y="2011680"/>
            <a:ext cx="29260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2A541"/>
                </a:solidFill>
              </a:rPr>
              <a:t>5つの施策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651760"/>
            <a:ext cx="292608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おまもり・AIレシピ・そだてAI・天下取り会議・影武者AIで各世代の悩みに寄り添う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955280" y="1828800"/>
            <a:ext cx="3383280" cy="2560320"/>
          </a:xfrm>
          <a:prstGeom prst="roundRect">
            <a:avLst>
              <a:gd name="adj" fmla="val 4286"/>
            </a:avLst>
          </a:prstGeom>
          <a:solidFill>
            <a:srgbClr val="16507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183880" y="2011680"/>
            <a:ext cx="29260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2A541"/>
                </a:solidFill>
              </a:rPr>
              <a:t>1つのシステム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183880" y="2651760"/>
            <a:ext cx="292608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AIランドに束ね、インセンティブと社内告知で継続的な活用へ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937760"/>
            <a:ext cx="106984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AIランドは、社員一人ひとりが自らの意思で生成AIと向き合うきっかけをつくる。二極化を解消し、生成AI活用率80%の達成へ。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 Land">
  <a:themeElements>
    <a:clrScheme name="AI Land">
      <a:dk1>
        <a:srgbClr val="1B2A38"/>
      </a:dk1>
      <a:lt1>
        <a:srgbClr val="FFFFFF"/>
      </a:lt1>
      <a:dk2>
        <a:srgbClr val="0B3954"/>
      </a:dk2>
      <a:lt2>
        <a:srgbClr val="EAF4F6"/>
      </a:lt2>
      <a:accent1>
        <a:srgbClr val="087E8B"/>
      </a:accent1>
      <a:accent2>
        <a:srgbClr val="F2A541"/>
      </a:accent2>
      <a:accent3>
        <a:srgbClr val="E4572E"/>
      </a:accent3>
      <a:accent4>
        <a:srgbClr val="5B8E7D"/>
      </a:accent4>
      <a:accent5>
        <a:srgbClr val="7A6CC4"/>
      </a:accent5>
      <a:accent6>
        <a:srgbClr val="C9488F"/>
      </a:accent6>
      <a:hlink>
        <a:srgbClr val="087E8B"/>
      </a:hlink>
      <a:folHlink>
        <a:srgbClr val="5B8E7D"/>
      </a:folHlink>
    </a:clrScheme>
    <a:fontScheme name="AI Land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AIランド開拓記</dc:title>
  <dc:subject>PptxGenJS Presentation</dc:subject>
  <dc:creator>PptxGenJS</dc:creator>
  <cp:lastModifiedBy>PptxGenJS</cp:lastModifiedBy>
  <cp:revision>1</cp:revision>
  <dcterms:created xsi:type="dcterms:W3CDTF">2026-10-10T16:51:55Z</dcterms:created>
  <dcterms:modified xsi:type="dcterms:W3CDTF">2026-10-10T16:51:55Z</dcterms:modified>
</cp:coreProperties>
</file>